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5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>
        <p:scale>
          <a:sx n="120" d="100"/>
          <a:sy n="120" d="100"/>
        </p:scale>
        <p:origin x="28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582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20530-96F2-662E-3060-015D1D20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62574A-7EA6-716F-9EA6-00A64C61A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91893-5C10-649B-0D86-26CAF4959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6574C-39A3-823C-7E90-85959E8712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412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26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560320" y="4480560"/>
            <a:ext cx="4572000" cy="4572000"/>
          </a:xfrm>
          <a:prstGeom prst="ellipse">
            <a:avLst/>
          </a:prstGeom>
          <a:solidFill>
            <a:srgbClr val="26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kern="0" spc="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0" y="3310128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reading feed for replacing mindless scrolling of brainrot content with short-form knowledge.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58064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kern="0" spc="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9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61722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kern="0" spc="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Ankur · Krittika · Garvit · Shruti · Swastika · Yashvi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Short-form content is optimized for attention.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for knowledge.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9659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21945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2h 28m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per day on social media, by the average Indian user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9659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17720" y="21945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400M+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617720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users in India alone 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Reels market on Earth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9659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66760" y="21945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366760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YouTube users say they're there to learn something new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10881360" cy="1874520"/>
          </a:xfrm>
          <a:prstGeom prst="roundRect">
            <a:avLst>
              <a:gd name="adj" fmla="val 3902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480560"/>
            <a:ext cx="10332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1B1F2E"/>
                </a:solidFill>
                <a:ea typeface="Calibri" pitchFamily="34" charset="-122"/>
                <a:cs typeface="Calibri" pitchFamily="34" charset="-120"/>
              </a:rPr>
              <a:t>Every major feed (Reels, Shorts, Moj, Josh) is tuned by the same objective: maximize time-on-app. 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1B1F2E"/>
                </a:solidFill>
                <a:ea typeface="Calibri" pitchFamily="34" charset="-122"/>
                <a:cs typeface="Calibri" pitchFamily="34" charset="-120"/>
              </a:rPr>
              <a:t>Novelty, outrage, and dopamine win the ranking function. 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1B1F2E"/>
                </a:solidFill>
                <a:ea typeface="Calibri" pitchFamily="34" charset="-122"/>
                <a:cs typeface="Calibri" pitchFamily="34" charset="-120"/>
              </a:rPr>
              <a:t>India didn't get TikTok; it got three replacements for it, and the objective function travelled over unchanged. 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1B1F2E"/>
                </a:solidFill>
                <a:ea typeface="Calibri" pitchFamily="34" charset="-122"/>
                <a:cs typeface="Calibri" pitchFamily="34" charset="-120"/>
              </a:rPr>
              <a:t>Depth and retention of knowledge were never the metric.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450" dirty="0"/>
              <a:t>Millions open Instagram hoping to learn something useful. They leave after 45 minutes having learned almost nothing.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we building for?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566160" cy="4434840"/>
          </a:xfrm>
          <a:prstGeom prst="roundRect">
            <a:avLst>
              <a:gd name="adj" fmla="val 2564"/>
            </a:avLst>
          </a:prstGeom>
          <a:solidFill>
            <a:srgbClr val="1B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2057400"/>
            <a:ext cx="1188720" cy="1188720"/>
          </a:xfrm>
          <a:prstGeom prst="ellipse">
            <a:avLst/>
          </a:prstGeom>
          <a:solidFill>
            <a:srgbClr val="C997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0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Dhruv Ojha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867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have the time or the attention span to read newspaper but wants to sound smart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280160" y="4389120"/>
            <a:ext cx="2286000" cy="0"/>
          </a:xfrm>
          <a:prstGeom prst="line">
            <a:avLst/>
          </a:prstGeom>
          <a:noFill/>
          <a:ln w="12700">
            <a:solidFill>
              <a:srgbClr val="3A40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46177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know I’ve lost another hour to Reels. I just want to feel like I learnt something today as well.”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16002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2066544"/>
            <a:ext cx="73152" cy="73152"/>
          </a:xfrm>
          <a:prstGeom prst="ellipse">
            <a:avLst/>
          </a:prstGeom>
          <a:solidFill>
            <a:srgbClr val="636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984248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the loop enough to hold a conversation or stay informed, without cramming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2395728"/>
            <a:ext cx="73152" cy="73152"/>
          </a:xfrm>
          <a:prstGeom prst="ellipse">
            <a:avLst/>
          </a:prstGeom>
          <a:solidFill>
            <a:srgbClr val="636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231343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Unwind at night without the 1am guilt-scroll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26280" y="2724912"/>
            <a:ext cx="73152" cy="73152"/>
          </a:xfrm>
          <a:prstGeom prst="ellipse">
            <a:avLst/>
          </a:prstGeom>
          <a:solidFill>
            <a:srgbClr val="636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642616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passively: no timetable, no course to fall behind 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30175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26280" y="3483864"/>
            <a:ext cx="73152" cy="73152"/>
          </a:xfrm>
          <a:prstGeom prst="ellipse">
            <a:avLst/>
          </a:prstGeom>
          <a:solidFill>
            <a:srgbClr val="636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3401568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and Shorts leave nothing behind by morning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26280" y="3813048"/>
            <a:ext cx="73152" cy="73152"/>
          </a:xfrm>
          <a:prstGeom prst="ellipse">
            <a:avLst/>
          </a:prstGeom>
          <a:solidFill>
            <a:srgbClr val="636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373075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apps feel boring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26280" y="4142232"/>
            <a:ext cx="73152" cy="73152"/>
          </a:xfrm>
          <a:prstGeom prst="ellipse">
            <a:avLst/>
          </a:prstGeom>
          <a:solidFill>
            <a:srgbClr val="636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4059936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for a long article in a busy day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26280" y="44348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26280" y="4901184"/>
            <a:ext cx="73152" cy="73152"/>
          </a:xfrm>
          <a:prstGeom prst="ellipse">
            <a:avLst/>
          </a:prstGeom>
          <a:solidFill>
            <a:srgbClr val="636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4818888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2.5+ hours a day on Instagram Reels and YouTube Shorts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26280" y="5230368"/>
            <a:ext cx="73152" cy="73152"/>
          </a:xfrm>
          <a:prstGeom prst="ellipse">
            <a:avLst/>
          </a:prstGeom>
          <a:solidFill>
            <a:srgbClr val="636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514807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news-summary app most mornings, closes it inside 40 seconds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26280" y="5559552"/>
            <a:ext cx="73152" cy="73152"/>
          </a:xfrm>
          <a:prstGeom prst="ellipse">
            <a:avLst/>
          </a:prstGeom>
          <a:solidFill>
            <a:srgbClr val="636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5477256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WhatsApp groups forwarding ‘must-read’ articles he never opens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146C494-A85A-1CCE-CD87-E97DC688FE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68" r="7926" b="25066"/>
          <a:stretch>
            <a:fillRect/>
          </a:stretch>
        </p:blipFill>
        <p:spPr>
          <a:xfrm>
            <a:off x="1677043" y="1863379"/>
            <a:ext cx="1492233" cy="1527045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26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560320" y="4480560"/>
            <a:ext cx="4572000" cy="4572000"/>
          </a:xfrm>
          <a:prstGeom prst="ellipse">
            <a:avLst/>
          </a:prstGeom>
          <a:solidFill>
            <a:srgbClr val="26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habit. Different payoff.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 replaces the video with a two-minute read and an algorithm trained on curiosity instead of outrage.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3657600" cy="4297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58775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1E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25877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Onion Prices Tell Us About Indian Politics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97280" y="38404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prices are a famously touchy indicator in Indian politics — sharp spikes have coincided with election losses more than once, and analysts still watch the mandi price as an informal mood gauge.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54864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E8F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5486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Keep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88920" y="54864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F6E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88920" y="5486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 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057400"/>
            <a:ext cx="502920" cy="502920"/>
          </a:xfrm>
          <a:prstGeom prst="ellipse">
            <a:avLst/>
          </a:prstGeom>
          <a:solidFill>
            <a:srgbClr val="C997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202996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sourced 2-minute reads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2404872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AI, grounded against real sources: never a copy-pasted feed, never unverified WhatsApp-forward trivia. </a:t>
            </a:r>
            <a:endParaRPr lang="en-US" sz="1250" dirty="0">
              <a:solidFill>
                <a:schemeClr val="bg2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3355848"/>
            <a:ext cx="502920" cy="502920"/>
          </a:xfrm>
          <a:prstGeom prst="ellipse">
            <a:avLst/>
          </a:prstGeom>
          <a:solidFill>
            <a:srgbClr val="C997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33284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curiosity, not outrage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370332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chemeClr val="bg2"/>
                </a:solidFill>
                <a:ea typeface="Calibri" pitchFamily="34" charset="-122"/>
                <a:cs typeface="Calibri" pitchFamily="34" charset="-120"/>
              </a:rPr>
              <a:t>Every swipe is a preference signal. The mix of topics narrows toward what you actually keep reading. </a:t>
            </a:r>
            <a:r>
              <a:rPr lang="en-IN" sz="1250" dirty="0">
                <a:solidFill>
                  <a:schemeClr val="bg2"/>
                </a:solidFill>
              </a:rPr>
              <a:t>Users spend the same two minutes per swipe but retain useful knowledge instead of entertainment.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46320" y="4654296"/>
            <a:ext cx="502920" cy="502920"/>
          </a:xfrm>
          <a:prstGeom prst="ellipse">
            <a:avLst/>
          </a:prstGeom>
          <a:solidFill>
            <a:srgbClr val="C997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462686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runs out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32120" y="500176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chemeClr val="bg2"/>
                </a:solidFill>
                <a:ea typeface="Calibri" pitchFamily="34" charset="-122"/>
                <a:cs typeface="Calibri" pitchFamily="34" charset="-120"/>
              </a:rPr>
              <a:t>Endless, on-topic generation: the same infinite-scroll habit, spent on something that compounds. </a:t>
            </a:r>
            <a:r>
              <a:rPr lang="en-IN" sz="1250" dirty="0">
                <a:solidFill>
                  <a:schemeClr val="bg2"/>
                </a:solidFill>
              </a:rPr>
              <a:t>AI automatically creates personalized, source-backed explainers matched to your interests—something static articles and generic chatbots don't provide.</a:t>
            </a:r>
            <a:endParaRPr lang="en-US" sz="1250" dirty="0">
              <a:solidFill>
                <a:schemeClr val="bg2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it work?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96596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22402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stacks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10–15 interests on first open (history, cinema, cricket, markets, philosophy, design and more) each with its own sub-topics.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96596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22402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63440" y="2926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34747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Two-minute AI-written reads, one per card. Swipe right to keep it, left to pass (similar to a dating app motion).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96596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0" y="22402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412480" y="2926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12480" y="34747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swipe updates your topic weights. The feed narrows toward what you keep and generates more of it.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lane between two crowded ones.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feeds win on habit but teach nothing. News apps teach but feel like compulsion. Curio sits in between them.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0016" y="1965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Reels / Shorts / Moj / Josh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Video, algorithmic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8221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attention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44398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scroll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50657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like: compulsion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39056" y="1965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ALTERNATIVE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2860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 err="1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Inshorts</a:t>
            </a:r>
            <a:r>
              <a:rPr lang="en-US" sz="1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Kuku FM 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podcasts, content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63440" y="38221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general news / information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444398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Affairs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50657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like: reading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169164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1B1F2E"/>
          </a:solidFill>
          <a:ln w="12700">
            <a:solidFill>
              <a:srgbClr val="1B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88096" y="1965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22860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0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explainers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12480" y="38221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curiosity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12480" y="444398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cards, 2 min each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50657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like: browsing a curated library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ads in the core feed: the content itself is the product. Free earns the habit; Curio+ earns revenue from depth of engagement, not impressions.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79" y="1417320"/>
            <a:ext cx="4373355" cy="1234440"/>
          </a:xfrm>
          <a:prstGeom prst="roundRect">
            <a:avLst>
              <a:gd name="adj" fmla="val 5926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819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SWIPING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14400" y="18013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2585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library, standard reads, ads-free, forever.</a:t>
            </a:r>
            <a:endParaRPr lang="en-US" sz="1100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A1BC69E-EA9A-6C12-5D79-59E5CBE85D1E}"/>
              </a:ext>
            </a:extLst>
          </p:cNvPr>
          <p:cNvGrpSpPr/>
          <p:nvPr/>
        </p:nvGrpSpPr>
        <p:grpSpPr>
          <a:xfrm>
            <a:off x="5287755" y="1417320"/>
            <a:ext cx="6261117" cy="1234440"/>
            <a:chOff x="4023360" y="1417320"/>
            <a:chExt cx="7525512" cy="1234440"/>
          </a:xfrm>
        </p:grpSpPr>
        <p:sp>
          <p:nvSpPr>
            <p:cNvPr id="8" name="Shape 6"/>
            <p:cNvSpPr/>
            <p:nvPr/>
          </p:nvSpPr>
          <p:spPr>
            <a:xfrm>
              <a:off x="4023360" y="1417320"/>
              <a:ext cx="7525512" cy="1234440"/>
            </a:xfrm>
            <a:prstGeom prst="roundRect">
              <a:avLst>
                <a:gd name="adj" fmla="val 5926"/>
              </a:avLst>
            </a:prstGeom>
            <a:solidFill>
              <a:srgbClr val="1B1F2E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343400" y="1581912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kern="0" spc="150" dirty="0">
                  <a:solidFill>
                    <a:srgbClr val="C997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SUBSCRIPTION</a:t>
              </a:r>
              <a:endParaRPr lang="en-US" sz="9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343400" y="1801368"/>
              <a:ext cx="688543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Curio+  </a:t>
              </a:r>
              <a:r>
                <a:rPr lang="en-US" sz="1400" b="1" dirty="0">
                  <a:solidFill>
                    <a:srgbClr val="C997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₹99/</a:t>
              </a:r>
              <a:r>
                <a:rPr lang="en-US" sz="1400" b="1" dirty="0" err="1">
                  <a:solidFill>
                    <a:srgbClr val="C997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</a:t>
              </a:r>
              <a:r>
                <a:rPr lang="en-US" sz="1400" b="1" dirty="0">
                  <a:solidFill>
                    <a:srgbClr val="C997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OR  ₹499/yr 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343400" y="2258568"/>
              <a:ext cx="688543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7CCD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study tool built on top of the habit, not just a longer read. Details below.</a:t>
              </a:r>
              <a:endParaRPr lang="en-US" sz="11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64008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CURIO+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2576322" cy="1417320"/>
          </a:xfrm>
          <a:prstGeom prst="roundRect">
            <a:avLst>
              <a:gd name="adj" fmla="val 4516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1248" y="3364992"/>
            <a:ext cx="274320" cy="274320"/>
          </a:xfrm>
          <a:prstGeom prst="ellipse">
            <a:avLst/>
          </a:prstGeom>
          <a:solidFill>
            <a:srgbClr val="C997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3712464"/>
            <a:ext cx="21739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Mode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4023360"/>
            <a:ext cx="21739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‘why’ or ‘explain more’ on any card — a real answer, not just a longer read.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417570" y="3200400"/>
            <a:ext cx="2576322" cy="1417320"/>
          </a:xfrm>
          <a:prstGeom prst="roundRect">
            <a:avLst>
              <a:gd name="adj" fmla="val 4516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18738" y="3364992"/>
            <a:ext cx="274320" cy="274320"/>
          </a:xfrm>
          <a:prstGeom prst="ellipse">
            <a:avLst/>
          </a:prstGeom>
          <a:solidFill>
            <a:srgbClr val="C997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18738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18738" y="3712464"/>
            <a:ext cx="21739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reads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18738" y="4023360"/>
            <a:ext cx="21739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2-minute packs, narrated — for the commute, the gym, the metro.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195060" y="3200400"/>
            <a:ext cx="2576322" cy="1417320"/>
          </a:xfrm>
          <a:prstGeom prst="roundRect">
            <a:avLst>
              <a:gd name="adj" fmla="val 4516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96228" y="3364992"/>
            <a:ext cx="274320" cy="274320"/>
          </a:xfrm>
          <a:prstGeom prst="ellipse">
            <a:avLst/>
          </a:prstGeom>
          <a:solidFill>
            <a:srgbClr val="C997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96228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96228" y="3712464"/>
            <a:ext cx="21739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PDF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96228" y="4023360"/>
            <a:ext cx="21739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‘Keep’ pile into an offline, shareable study pack before an exam.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8972550" y="3200400"/>
            <a:ext cx="2576322" cy="1417320"/>
          </a:xfrm>
          <a:prstGeom prst="roundRect">
            <a:avLst>
              <a:gd name="adj" fmla="val 4516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173718" y="3364992"/>
            <a:ext cx="274320" cy="274320"/>
          </a:xfrm>
          <a:prstGeom prst="ellipse">
            <a:avLst/>
          </a:prstGeom>
          <a:solidFill>
            <a:srgbClr val="C997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73718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73718" y="3712464"/>
            <a:ext cx="21739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notes &amp; highlights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73718" y="4023360"/>
            <a:ext cx="21739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Auto-summarized key lines from everything you've kept, organized by topic.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640080" y="4800600"/>
            <a:ext cx="2576322" cy="1417320"/>
          </a:xfrm>
          <a:prstGeom prst="roundRect">
            <a:avLst>
              <a:gd name="adj" fmla="val 4516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41248" y="4965192"/>
            <a:ext cx="274320" cy="274320"/>
          </a:xfrm>
          <a:prstGeom prst="ellipse">
            <a:avLst/>
          </a:prstGeom>
          <a:solidFill>
            <a:srgbClr val="C997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41248" y="4965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" y="5312664"/>
            <a:ext cx="21739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shelf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1248" y="5623560"/>
            <a:ext cx="21739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library, zero signal needed — built for patchy hostel wifi.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3417570" y="4800600"/>
            <a:ext cx="2576322" cy="1417320"/>
          </a:xfrm>
          <a:prstGeom prst="roundRect">
            <a:avLst>
              <a:gd name="adj" fmla="val 4516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618738" y="4965192"/>
            <a:ext cx="274320" cy="274320"/>
          </a:xfrm>
          <a:prstGeom prst="ellipse">
            <a:avLst/>
          </a:prstGeom>
          <a:solidFill>
            <a:srgbClr val="C997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18738" y="4965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18738" y="5312664"/>
            <a:ext cx="21739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 &amp; priority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18738" y="5623560"/>
            <a:ext cx="21739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topic packs and the freshest generations, before anyone else.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6195060" y="4800600"/>
            <a:ext cx="2576322" cy="1417320"/>
          </a:xfrm>
          <a:prstGeom prst="roundRect">
            <a:avLst>
              <a:gd name="adj" fmla="val 4516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96228" y="4965192"/>
            <a:ext cx="274320" cy="274320"/>
          </a:xfrm>
          <a:prstGeom prst="ellipse">
            <a:avLst/>
          </a:prstGeom>
          <a:solidFill>
            <a:srgbClr val="C997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396228" y="4965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96228" y="5312664"/>
            <a:ext cx="21739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comment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96228" y="5623560"/>
            <a:ext cx="21739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and compare ‘Keeps’ with friends following the same stacks.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56" name="Shape 41">
            <a:extLst>
              <a:ext uri="{FF2B5EF4-FFF2-40B4-BE49-F238E27FC236}">
                <a16:creationId xmlns:a16="http://schemas.microsoft.com/office/drawing/2014/main" id="{4D72DCB8-33EA-7028-FFE6-46BFC8C3C54F}"/>
              </a:ext>
            </a:extLst>
          </p:cNvPr>
          <p:cNvSpPr/>
          <p:nvPr/>
        </p:nvSpPr>
        <p:spPr>
          <a:xfrm>
            <a:off x="8972550" y="4800600"/>
            <a:ext cx="2576322" cy="1417320"/>
          </a:xfrm>
          <a:prstGeom prst="roundRect">
            <a:avLst>
              <a:gd name="adj" fmla="val 4516"/>
            </a:avLst>
          </a:prstGeom>
          <a:solidFill>
            <a:srgbClr val="F4F4F2"/>
          </a:solidFill>
          <a:ln w="12700">
            <a:solidFill>
              <a:srgbClr val="E4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2">
            <a:extLst>
              <a:ext uri="{FF2B5EF4-FFF2-40B4-BE49-F238E27FC236}">
                <a16:creationId xmlns:a16="http://schemas.microsoft.com/office/drawing/2014/main" id="{4E6DBB02-0F20-26C4-7FC3-7964F7686F02}"/>
              </a:ext>
            </a:extLst>
          </p:cNvPr>
          <p:cNvSpPr/>
          <p:nvPr/>
        </p:nvSpPr>
        <p:spPr>
          <a:xfrm>
            <a:off x="9173718" y="4965192"/>
            <a:ext cx="274320" cy="274320"/>
          </a:xfrm>
          <a:prstGeom prst="ellipse">
            <a:avLst/>
          </a:prstGeom>
          <a:solidFill>
            <a:srgbClr val="C997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8" name="Text 43">
            <a:extLst>
              <a:ext uri="{FF2B5EF4-FFF2-40B4-BE49-F238E27FC236}">
                <a16:creationId xmlns:a16="http://schemas.microsoft.com/office/drawing/2014/main" id="{54F5404D-61C1-D414-B2AB-8B49371426CB}"/>
              </a:ext>
            </a:extLst>
          </p:cNvPr>
          <p:cNvSpPr/>
          <p:nvPr/>
        </p:nvSpPr>
        <p:spPr>
          <a:xfrm>
            <a:off x="9173718" y="4965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9" name="Text 44">
            <a:extLst>
              <a:ext uri="{FF2B5EF4-FFF2-40B4-BE49-F238E27FC236}">
                <a16:creationId xmlns:a16="http://schemas.microsoft.com/office/drawing/2014/main" id="{51440B84-A766-B312-23BF-312379FBB16F}"/>
              </a:ext>
            </a:extLst>
          </p:cNvPr>
          <p:cNvSpPr/>
          <p:nvPr/>
        </p:nvSpPr>
        <p:spPr>
          <a:xfrm>
            <a:off x="9173718" y="5312664"/>
            <a:ext cx="21739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Profanity Filter</a:t>
            </a:r>
            <a:endParaRPr lang="en-US" sz="1200" dirty="0"/>
          </a:p>
        </p:txBody>
      </p:sp>
      <p:sp>
        <p:nvSpPr>
          <p:cNvPr id="60" name="Text 45">
            <a:extLst>
              <a:ext uri="{FF2B5EF4-FFF2-40B4-BE49-F238E27FC236}">
                <a16:creationId xmlns:a16="http://schemas.microsoft.com/office/drawing/2014/main" id="{AB23D8A7-9534-4FF5-EC1C-4098ED541DC5}"/>
              </a:ext>
            </a:extLst>
          </p:cNvPr>
          <p:cNvSpPr/>
          <p:nvPr/>
        </p:nvSpPr>
        <p:spPr>
          <a:xfrm>
            <a:off x="9173718" y="5623560"/>
            <a:ext cx="21739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IN" sz="1000" dirty="0">
                <a:solidFill>
                  <a:schemeClr val="bg2">
                    <a:lumMod val="50000"/>
                  </a:schemeClr>
                </a:solidFill>
              </a:rPr>
              <a:t>Personalize your feed with optional content and language filters.</a:t>
            </a:r>
            <a:endParaRPr lang="en-US" sz="98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26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560320" y="4480560"/>
            <a:ext cx="4572000" cy="4572000"/>
          </a:xfrm>
          <a:prstGeom prst="ellipse">
            <a:avLst/>
          </a:prstGeom>
          <a:solidFill>
            <a:srgbClr val="26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Swipe into knowing more.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262B3D"/>
          </a:solidFill>
          <a:ln w="12700">
            <a:solidFill>
              <a:srgbClr val="C997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9842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content pipeline — generate + fact-check the first topic packs, India-first: cricket, markets, Bollywood, history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262B3D"/>
          </a:solidFill>
          <a:ln w="12700">
            <a:solidFill>
              <a:srgbClr val="C997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7614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swipe MVP, validate retention against a small test group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262B3D"/>
          </a:solidFill>
          <a:ln w="12700">
            <a:solidFill>
              <a:srgbClr val="C997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5387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the real recommendation engine on swipe data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262B3D"/>
          </a:solidFill>
          <a:ln w="12700">
            <a:solidFill>
              <a:srgbClr val="C997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43159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free / Curio+ split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60839C-22DC-DE4D-DEE7-24EC3CF33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939CF3-92C9-0B34-72A7-F9FEDEB15A4A}"/>
              </a:ext>
            </a:extLst>
          </p:cNvPr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26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F4E8189-27C0-DD29-97A2-88EA2A7C1D67}"/>
              </a:ext>
            </a:extLst>
          </p:cNvPr>
          <p:cNvSpPr/>
          <p:nvPr/>
        </p:nvSpPr>
        <p:spPr>
          <a:xfrm>
            <a:off x="-2560320" y="4480560"/>
            <a:ext cx="4572000" cy="4572000"/>
          </a:xfrm>
          <a:prstGeom prst="ellipse">
            <a:avLst/>
          </a:prstGeom>
          <a:solidFill>
            <a:srgbClr val="26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9CD50C-4E85-3CB8-5762-15F8CBE8740C}"/>
              </a:ext>
            </a:extLst>
          </p:cNvPr>
          <p:cNvSpPr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kern="0" spc="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8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0031D99-2EC7-A10E-2CE4-D29EB276CF70}"/>
              </a:ext>
            </a:extLst>
          </p:cNvPr>
          <p:cNvSpPr/>
          <p:nvPr/>
        </p:nvSpPr>
        <p:spPr>
          <a:xfrm>
            <a:off x="0" y="3310128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Questions?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7582D44-EC29-E50C-43F0-20A941D97E12}"/>
              </a:ext>
            </a:extLst>
          </p:cNvPr>
          <p:cNvSpPr/>
          <p:nvPr/>
        </p:nvSpPr>
        <p:spPr>
          <a:xfrm>
            <a:off x="0" y="58064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kern="0" spc="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9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CC3A619-EC2C-8C25-423E-0D017B37761B}"/>
              </a:ext>
            </a:extLst>
          </p:cNvPr>
          <p:cNvSpPr/>
          <p:nvPr/>
        </p:nvSpPr>
        <p:spPr>
          <a:xfrm>
            <a:off x="0" y="61722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kern="0" spc="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Ankur · Krittika · Garvit · Shruti · Swastika · Yashvi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505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993</Words>
  <Application>Microsoft Macintosh PowerPoint</Application>
  <PresentationFormat>Widescreen</PresentationFormat>
  <Paragraphs>152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Swastika Shankar</cp:lastModifiedBy>
  <cp:revision>9</cp:revision>
  <dcterms:created xsi:type="dcterms:W3CDTF">2026-07-16T05:35:33Z</dcterms:created>
  <dcterms:modified xsi:type="dcterms:W3CDTF">2026-07-16T07:53:15Z</dcterms:modified>
</cp:coreProperties>
</file>