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people</c:v>
                </c:pt>
              </c:strCache>
            </c:strRef>
          </c:tx>
          <c:spPr>
            <a:solidFill>
              <a:srgbClr val="1E93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7F4D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Signed in</c:v>
                  </c:pt>
                  <c:pt idx="1">
                    <c:v>Saved a card</c:v>
                  </c:pt>
                  <c:pt idx="2">
                    <c:v>Swiped</c:v>
                  </c:pt>
                  <c:pt idx="3">
                    <c:v>Completed onboarding</c:v>
                  </c:pt>
                  <c:pt idx="4">
                    <c:v>Touched a topic</c:v>
                  </c:pt>
                  <c:pt idx="5">
                    <c:v>Opened Curio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27</c:v>
                </c:pt>
                <c:pt idx="2">
                  <c:v>64</c:v>
                </c:pt>
                <c:pt idx="3">
                  <c:v>80</c:v>
                </c:pt>
                <c:pt idx="4">
                  <c:v>85</c:v>
                </c:pt>
                <c:pt idx="5">
                  <c:v>114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7F4D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7CDB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9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Curio: swipeable, source-grounded knowledge feed. Everything shown is deployed and live; all numbers pulled from production PostHog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personas from three depth interviews. Aditya is the habitual scroller who wants substance; Raghav barely scrolls but gates on trust. We state the n=3, male-skewed limitation openly.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quotes are verbatim from discovery. The insight: do not fight the swipe habit — repoint it. That framing is also our ethics answer: same loop, different payoff, with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mechanic: guess-first cards (typed answers, instant verdict), swipe semantics that tune an additive personalization model, and a verification pipeline — a card that fails fact-check never ships. Trust is structural, not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listed is deployed. The verification gate is a database policy (RLS), not a promise. The refill feature shipped this week from a real finding: most of the pilot exhausted the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 Star deliberately measures learning, not engagement. The recall quiz doubles as measurement: a typed, judged answer is direct evidence of retention. Guardrails are the ethics answer: session length has a ceiling.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production numbers, pulled today. Activation works (79% reach a card in 19s). The feed is liked (1.9:1). Gate converts 43% of those who meet it. Sessions are deliberately short — guardrail holding.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cause from live data: intro-screen bounce. NS at ~0 is mechanically explainable and points the roadmap at return loops. Exhaustion finding drove this week’s refill feature. Field bug reports (Yashvi, Krittika) fixed same-day.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live dashboard — the metrics page is public and updates from production on every load. Invite the room to open the product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 · SOFTWARE PRODUCT MANAGEMENT · DEMO DAY 2026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</a:t>
            </a:r>
            <a:pPr indent="0" marL="0">
              <a:buNone/>
            </a:pPr>
            <a:r>
              <a:rPr lang="en-US" sz="9600" b="1" dirty="0">
                <a:solidFill>
                  <a:srgbClr val="D39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58368" y="30632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39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Swipe. Guess. Keep what sticks.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3794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swipeable feed of 2-minute, fact-checked knowledge cards.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Reels habit, pointed at learning — India-first: cricket, markets, Bollywood, history.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5138928"/>
            <a:ext cx="118872" cy="118872"/>
          </a:xfrm>
          <a:prstGeom prst="ellipse">
            <a:avLst/>
          </a:prstGeom>
          <a:solidFill>
            <a:srgbClr val="9DB47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02920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DB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 ·  curio-three-iota.vercel.app  ·  120 real 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54132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4,884 events tracked — every number in this deck is queried from production.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68512" y="438912"/>
            <a:ext cx="2832213" cy="5980176"/>
          </a:xfrm>
          <a:prstGeom prst="roundRect">
            <a:avLst>
              <a:gd name="adj" fmla="val 4520"/>
            </a:avLst>
          </a:prstGeom>
          <a:solidFill>
            <a:srgbClr val="134430"/>
          </a:solidFill>
          <a:ln w="12700">
            <a:solidFill>
              <a:srgbClr val="2E5C44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10" name="Image 0" descr="/private/tmp/claude-501/-Users-arcy-Desktop-Curio/cbef8b14-06e2-458f-8b8c-7d5ebb4c3549/scratchpad/shots/verdi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502920"/>
            <a:ext cx="270419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IS THE CUSTOMER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curious thumb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Indian, 18–30, two-plus hours a day on short-form video — wants to end the scroll knowing something.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45059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E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· FROM 2 OF 3 INTERVIEWS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27432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Aditya, “The Curious Scroller”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324612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i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“I’m a mile deep in one thing and an inch deep in everything else — and everything out there is either baby-food or a lecture.”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4526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hrs/day of habitual short-form — “my thumb just did it”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news apps: too shallow or too heavy, no middle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24028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45059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97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 · THE TRUST GATE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27432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Raghav, “The Skeptical Reader”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324612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i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don’t have an attention problem, I have a trust problem. One wrong claim and I’m out.”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37960" y="4526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whose credibility depends on accuracy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only touch AI-written content that shows receipts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Discovery: 3 depth interviews (Ashish 25 · Rio 24 · Raj 28) → 2 personas. Sample is small and male-skewed — named as a limitation; next round targets the younger half of 18–30.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hours a day. Nothing kept.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3172968" cy="2880360"/>
          </a:xfrm>
          <a:prstGeom prst="roundRect">
            <a:avLst>
              <a:gd name="adj" fmla="val 3810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2128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39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HABIT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96112" y="2542032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i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“My thumb just did it.”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36576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scroll is habitual, not chosen. Hours go in; nothing comes back out — and users feel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07992" y="1965960"/>
            <a:ext cx="3172968" cy="2880360"/>
          </a:xfrm>
          <a:prstGeom prst="roundRect">
            <a:avLst>
              <a:gd name="adj" fmla="val 3810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45736" y="22128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39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45736" y="2542032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i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“Baby-food or a lecture.”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45736" y="36576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dumbed-down snippets and textbooks there is nothing. Raghav gave up on macroeconomics for exactly this.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57616" y="1965960"/>
            <a:ext cx="3172968" cy="2880360"/>
          </a:xfrm>
          <a:prstGeom prst="roundRect">
            <a:avLst>
              <a:gd name="adj" fmla="val 3810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2128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39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95360" y="2542032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i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“One wrong claim and I’m out.”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595360" y="36576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content fails on trust before it fails on attention. Trust is pass/fail, not a nice-to-have.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39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habit is not the enemy — the payoff is. So reuse the swipe loop, and change what it pays.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THE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Guess. Read. Keep — with receipts.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61872" y="1719072"/>
            <a:ext cx="2050531" cy="4288536"/>
          </a:xfrm>
          <a:prstGeom prst="roundRect">
            <a:avLst>
              <a:gd name="adj" fmla="val 6243"/>
            </a:avLst>
          </a:prstGeom>
          <a:solidFill>
            <a:srgbClr val="134430"/>
          </a:solidFill>
          <a:ln w="12700">
            <a:solidFill>
              <a:srgbClr val="2E5C44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5" name="Image 0" descr="/private/tmp/claude-501/-Users-arcy-Desktop-Curio/cbef8b14-06e2-458f-8b8c-7d5ebb4c3549/scratchpad/shots/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83080"/>
            <a:ext cx="1922515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6108192"/>
            <a:ext cx="27454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opens as a question — retrieval practice, not passive scroll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111496" y="1719072"/>
            <a:ext cx="2050531" cy="4288536"/>
          </a:xfrm>
          <a:prstGeom prst="roundRect">
            <a:avLst>
              <a:gd name="adj" fmla="val 6243"/>
            </a:avLst>
          </a:prstGeom>
          <a:solidFill>
            <a:srgbClr val="134430"/>
          </a:solidFill>
          <a:ln w="12700">
            <a:solidFill>
              <a:srgbClr val="2E5C44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8" name="Image 1" descr="/private/tmp/claude-501/-Users-arcy-Desktop-Curio/cbef8b14-06e2-458f-8b8c-7d5ebb4c3549/scratchpad/shots/verdi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783080"/>
            <a:ext cx="1922515" cy="4160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64024" y="6108192"/>
            <a:ext cx="27454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answer, get judged instantly — then the sourced truth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961120" y="1719072"/>
            <a:ext cx="2050531" cy="4288536"/>
          </a:xfrm>
          <a:prstGeom prst="roundRect">
            <a:avLst>
              <a:gd name="adj" fmla="val 6243"/>
            </a:avLst>
          </a:prstGeom>
          <a:solidFill>
            <a:srgbClr val="134430"/>
          </a:solidFill>
          <a:ln w="12700">
            <a:solidFill>
              <a:srgbClr val="2E5C44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11" name="Image 2" descr="/private/tmp/claude-501/-Users-arcy-Desktop-Curio/cbef8b14-06e2-458f-8b8c-7d5ebb4c3549/scratchpad/shots/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28" y="1783080"/>
            <a:ext cx="1922515" cy="4160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13648" y="6108192"/>
            <a:ext cx="27454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every claim cited, independently verified before it ships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MVP — LIVE SINCE 22 JULY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prototype. A product people use.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50392" y="1764792"/>
            <a:ext cx="2135037" cy="4471416"/>
          </a:xfrm>
          <a:prstGeom prst="roundRect">
            <a:avLst>
              <a:gd name="adj" fmla="val 5996"/>
            </a:avLst>
          </a:prstGeom>
          <a:solidFill>
            <a:srgbClr val="134430"/>
          </a:solidFill>
          <a:ln w="12700">
            <a:solidFill>
              <a:srgbClr val="2E5C44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5" name="Image 0" descr="/private/tmp/claude-501/-Users-arcy-Desktop-Curio/cbef8b14-06e2-458f-8b8c-7d5ebb4c3549/scratchpad/shots/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2007021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66160" y="1828800"/>
            <a:ext cx="3977640" cy="1207008"/>
          </a:xfrm>
          <a:prstGeom prst="roundRect">
            <a:avLst>
              <a:gd name="adj" fmla="val 7576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767328" y="1938528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feed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767328" y="2267712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topic weights, visibly tuning — “Mostly Cricket” after ~10 swipes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1828800"/>
            <a:ext cx="3977640" cy="1207008"/>
          </a:xfrm>
          <a:prstGeom prst="roundRect">
            <a:avLst>
              <a:gd name="adj" fmla="val 7576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73568" y="1938528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quizzes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73568" y="2267712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→ judged → sourced answer, on every card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66160" y="3200400"/>
            <a:ext cx="3977640" cy="1207008"/>
          </a:xfrm>
          <a:prstGeom prst="roundRect">
            <a:avLst>
              <a:gd name="adj" fmla="val 7576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67328" y="3310128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Kept pile + review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3767328" y="3639312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cards decay and resurface — spaced repetition, not a bookmark graveyard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3200400"/>
            <a:ext cx="3977640" cy="1207008"/>
          </a:xfrm>
          <a:prstGeom prst="roundRect">
            <a:avLst>
              <a:gd name="adj" fmla="val 7576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73568" y="3310128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Self-refilling feed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973568" y="3639312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end and 10 fresh cards are written &amp; fact-checked for your taste on demand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566160" y="4572000"/>
            <a:ext cx="3977640" cy="1207008"/>
          </a:xfrm>
          <a:prstGeom prst="roundRect">
            <a:avLst>
              <a:gd name="adj" fmla="val 7576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4681728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comments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3767328" y="5010912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 card, profanity-filtered at the database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72400" y="4572000"/>
            <a:ext cx="3977640" cy="1207008"/>
          </a:xfrm>
          <a:prstGeom prst="roundRect">
            <a:avLst>
              <a:gd name="adj" fmla="val 7576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73568" y="4681728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+ Curio+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7973568" y="5010912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Anonymous-first, Google sign-in gate at swipe 3, mocked ₹149/mo paywall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5800" y="6172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+ Vite · Supabase (RLS-enforced trust) · Vercel · PostHog   —   pipeline: generate → independently verify → cite. Fail closed: an unverified card never ships. 64 verified cards live.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THE METRIC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Star: cards retained per weekly active user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“Retained” = the user came back to a card — reopened it, reviewed it, or recalled it in a quiz. Swipes are motion. Retention is the product.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METRICS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3520440"/>
            <a:ext cx="3794760" cy="822960"/>
          </a:xfrm>
          <a:prstGeom prst="roundRect">
            <a:avLst>
              <a:gd name="adj" fmla="val 10000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6027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9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39136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starts that reach a first card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36008" y="3520440"/>
            <a:ext cx="3794760" cy="822960"/>
          </a:xfrm>
          <a:prstGeom prst="roundRect">
            <a:avLst>
              <a:gd name="adj" fmla="val 10000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36027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9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rate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18888" y="39136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who save ≥ 1 card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4480560"/>
            <a:ext cx="3794760" cy="822960"/>
          </a:xfrm>
          <a:prstGeom prst="roundRect">
            <a:avLst>
              <a:gd name="adj" fmla="val 10000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562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9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Second-day return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1248" y="48737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back on another 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36008" y="4480560"/>
            <a:ext cx="3794760" cy="822960"/>
          </a:xfrm>
          <a:prstGeom prst="roundRect">
            <a:avLst>
              <a:gd name="adj" fmla="val 10000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4562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9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first card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18888" y="48737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from open to reading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5577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 — WHAT WE REFUSE TO GROW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5943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DB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length is a CEILING (6 min), not a target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learning feed that wants you to leave on time. Doom-scroll numbers going up would be a failure here, not growth. Plus: comment-toxicity watch.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400032" y="1490472"/>
            <a:ext cx="2198417" cy="4608576"/>
          </a:xfrm>
          <a:prstGeom prst="roundRect">
            <a:avLst>
              <a:gd name="adj" fmla="val 5823"/>
            </a:avLst>
          </a:prstGeom>
          <a:solidFill>
            <a:srgbClr val="134430"/>
          </a:solidFill>
          <a:ln w="12700">
            <a:solidFill>
              <a:srgbClr val="2E5C44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21" name="Image 0" descr="/private/tmp/claude-501/-Users-arcy-Desktop-Curio/cbef8b14-06e2-458f-8b8c-7d5ebb4c3549/scratchpad/shots/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1554480"/>
            <a:ext cx="2070401" cy="44805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052560" y="6199632"/>
            <a:ext cx="28933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recall quiz IS the instrument — typed answers make retention measurable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MEASURED — POSTHOG, 22 JUL → 11 AUG, PRODUCTION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real users, honestly counted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035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FUNNEL — UNIQUE PEOPLE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903720" y="1783080"/>
            <a:ext cx="2377440" cy="1325880"/>
          </a:xfrm>
          <a:prstGeom prst="roundRect">
            <a:avLst>
              <a:gd name="adj" fmla="val 6207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68312" y="1892808"/>
            <a:ext cx="20482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B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068312" y="2472538"/>
            <a:ext cx="204825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starts reach a first card (target ≥ 75%)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418320" y="1783080"/>
            <a:ext cx="2377440" cy="1325880"/>
          </a:xfrm>
          <a:prstGeom prst="roundRect">
            <a:avLst>
              <a:gd name="adj" fmla="val 6207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82912" y="1892808"/>
            <a:ext cx="20482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B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19s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582912" y="2472538"/>
            <a:ext cx="204825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from open to first card (target &lt; 60s)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03720" y="3264408"/>
            <a:ext cx="2377440" cy="1325880"/>
          </a:xfrm>
          <a:prstGeom prst="roundRect">
            <a:avLst>
              <a:gd name="adj" fmla="val 6207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68312" y="3374136"/>
            <a:ext cx="20482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9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 : 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068312" y="3953866"/>
            <a:ext cx="204825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vs pass — the feed serves hits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418320" y="3264408"/>
            <a:ext cx="2377440" cy="1325880"/>
          </a:xfrm>
          <a:prstGeom prst="roundRect">
            <a:avLst>
              <a:gd name="adj" fmla="val 6207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82912" y="3374136"/>
            <a:ext cx="20482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9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582912" y="3953866"/>
            <a:ext cx="204825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readers save at least one card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903720" y="4745736"/>
            <a:ext cx="2377440" cy="1325880"/>
          </a:xfrm>
          <a:prstGeom prst="roundRect">
            <a:avLst>
              <a:gd name="adj" fmla="val 6207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68312" y="4855464"/>
            <a:ext cx="20482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9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7068312" y="5435194"/>
            <a:ext cx="204825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who hit the sign-in gate convert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418320" y="4745736"/>
            <a:ext cx="2377440" cy="1325880"/>
          </a:xfrm>
          <a:prstGeom prst="roundRect">
            <a:avLst>
              <a:gd name="adj" fmla="val 6207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82912" y="4855464"/>
            <a:ext cx="20482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B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min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9582912" y="5435194"/>
            <a:ext cx="204825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session — ceiling is 6 (guardrail holding)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 the data forced on 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1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leak is before the first tap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visitors bounce on the intro screen — before touching a single topic (114 → 85). Not choice paralysis: they never got to the choices.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spc="100" kern="0" dirty="0">
                <a:solidFill>
                  <a:srgbClr val="D97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A/B: OPEN ON THE TOPIC PICKER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07992" y="187452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4024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9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64024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Star reads ~0 — and that’s the finding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64024" y="36118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people saved cards; only 4 have come back to one. Nothing pulls users back yet (no notifications, by design) — so return is the battleground, not a bug.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64024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spc="100" kern="0" dirty="0">
                <a:solidFill>
                  <a:srgbClr val="1E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SHIPPED: RECALL QUIZ + SELF-REFILLING FEED · SAVES 8 → 29 LAST WEEK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357616" y="187452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0F3D2C"/>
          </a:solidFill>
          <a:ln w="9525">
            <a:solidFill>
              <a:srgbClr val="2E5C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13648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9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613648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out was the real churn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613648" y="36118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7C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pilot read the entire library — exhaustion, not boredom, ended sessions. The deck now writes 10 personalized, verified cards on demand.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13648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spc="100" kern="0" dirty="0">
                <a:solidFill>
                  <a:srgbClr val="D39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 MOVED TO THE MOMENT OF DEMAND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9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finding: two real testers found two gate bugs desktop testing never showed — both fixed and folded into the spec the same day. Real users beat test plans.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7C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FOR YOURSELF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here is live right now.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6949440" cy="4901184"/>
          </a:xfrm>
          <a:prstGeom prst="roundRect">
            <a:avLst>
              <a:gd name="adj" fmla="val 2239"/>
            </a:avLst>
          </a:prstGeom>
          <a:solidFill>
            <a:srgbClr val="134430"/>
          </a:solidFill>
          <a:ln w="12700">
            <a:solidFill>
              <a:srgbClr val="2E5C44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5" name="Image 0" descr="/private/tmp/claude-501/-Users-arcy-Desktop-Curio/cbef8b14-06e2-458f-8b8c-7d5ebb4c3549/scratchpad/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039112"/>
            <a:ext cx="6803136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39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63840" y="2670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curio-three-iota.vercel.app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6384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39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NUMBERS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863840" y="3630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curio-three-iota.vercel.app/metrics.html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39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DRILL-DOWN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63840" y="4590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PostHog — full event-level analytics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63840" y="54864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B7CD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feed. Swipe your first set.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B7CD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us anything — the numbers are public.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Curio — Demo Day</dc:title>
  <dc:subject>PptxGenJS Presentation</dc:subject>
  <dc:creator>Team Curio</dc:creator>
  <cp:lastModifiedBy>Team Curio</cp:lastModifiedBy>
  <cp:revision>1</cp:revision>
  <dcterms:created xsi:type="dcterms:W3CDTF">2026-08-11T08:41:28Z</dcterms:created>
  <dcterms:modified xsi:type="dcterms:W3CDTF">2026-08-11T08:41:28Z</dcterms:modified>
</cp:coreProperties>
</file>